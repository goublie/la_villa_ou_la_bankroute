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0" y="1051560"/>
            <a:ext cx="4389120" cy="4114800"/>
          </a:xfrm>
          <a:prstGeom prst="roundRect">
            <a:avLst/>
          </a:prstGeom>
          <a:solidFill>
            <a:srgbClr val="3A8BE6"/>
          </a:solidFill>
          <a:ln>
            <a:solidFill>
              <a:srgbClr val="3A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4754880"/>
            <a:ext cx="4389120" cy="411480"/>
          </a:xfrm>
          <a:prstGeom prst="rect">
            <a:avLst/>
          </a:prstGeom>
          <a:solidFill>
            <a:srgbClr val="1450B9"/>
          </a:solidFill>
          <a:ln>
            <a:solidFill>
              <a:srgbClr val="145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84848" y="4828032"/>
            <a:ext cx="822960" cy="265176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76288" y="486460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Démarrer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602736"/>
            <a:ext cx="2852928" cy="1440180"/>
          </a:xfrm>
          <a:prstGeom prst="roundRect">
            <a:avLst/>
          </a:prstGeom>
          <a:solidFill>
            <a:srgbClr val="78CD50"/>
          </a:solidFill>
          <a:ln>
            <a:solidFill>
              <a:srgbClr val="78C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67" y="3849624"/>
            <a:ext cx="2633472" cy="1152144"/>
          </a:xfrm>
          <a:prstGeom prst="roundRect">
            <a:avLst/>
          </a:prstGeom>
          <a:solidFill>
            <a:srgbClr val="3A9137"/>
          </a:solidFill>
          <a:ln>
            <a:solidFill>
              <a:srgbClr val="3A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3720" y="1371600"/>
            <a:ext cx="411480" cy="411480"/>
          </a:xfrm>
          <a:prstGeom prst="roundRect">
            <a:avLst/>
          </a:prstGeom>
          <a:solidFill>
            <a:srgbClr val="F5BE4B"/>
          </a:solidFill>
          <a:ln>
            <a:solidFill>
              <a:srgbClr val="F5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47218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71600"/>
            <a:ext cx="411480" cy="411480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7" y="147218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286000"/>
            <a:ext cx="411480" cy="411480"/>
          </a:xfrm>
          <a:prstGeom prst="roundRect">
            <a:avLst/>
          </a:prstGeom>
          <a:solidFill>
            <a:srgbClr val="916EDC"/>
          </a:solidFill>
          <a:ln>
            <a:solidFill>
              <a:srgbClr val="91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38658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BANK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286000"/>
            <a:ext cx="411480" cy="411480"/>
          </a:xfrm>
          <a:prstGeom prst="roundRect">
            <a:avLst/>
          </a:prstGeom>
          <a:solidFill>
            <a:srgbClr val="E1504B"/>
          </a:solidFill>
          <a:ln>
            <a:solidFill>
              <a:srgbClr val="E1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238658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00584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EF4FA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5B6C8"/>
                </a:solidFill>
                <a:latin typeface="Aptos"/>
              </a:rPr>
              <a:t>Chaque mois, choisir sa vie. Jusqu'à l'indépendance financière — ou la chute.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71800"/>
            <a:ext cx="4023360" cy="685800"/>
          </a:xfrm>
          <a:prstGeom prst="round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638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F4FA"/>
                </a:solidFill>
                <a:latin typeface="Aptos"/>
              </a:rPr>
              <a:t>Pitch deck investisseur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31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EF4FA"/>
                </a:solidFill>
                <a:latin typeface="Aptos"/>
              </a:rPr>
              <a:t>Simulateur de vie financière · PC · Gestion narrative · Données réelles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Le jeu en une phrase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13716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EF4FA"/>
                </a:solidFill>
                <a:latin typeface="Aptos"/>
              </a:rPr>
              <a:t>Un Football Manager de la vie adulte : chaque mois, le joueur arbitre son énergie entre carrière, investissement, banque, startup, famille, santé mentale et réseau.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5B6C8"/>
                </a:solidFill>
                <a:latin typeface="Aptos"/>
              </a:defRPr>
            </a:pPr>
            <a:r>
              <a:t>Un ton sérieux, mais accessible et parfois cruel.</a:t>
            </a:r>
          </a:p>
          <a:p>
            <a:pPr>
              <a:defRPr sz="1800">
                <a:solidFill>
                  <a:srgbClr val="A5B6C8"/>
                </a:solidFill>
                <a:latin typeface="Aptos"/>
              </a:defRPr>
            </a:pPr>
            <a:r>
              <a:t>Une interface PC rétro moderne : bureau Windows, raccourcis, notifications.</a:t>
            </a:r>
          </a:p>
          <a:p>
            <a:pPr>
              <a:defRPr sz="1800">
                <a:solidFill>
                  <a:srgbClr val="A5B6C8"/>
                </a:solidFill>
                <a:latin typeface="Aptos"/>
              </a:defRPr>
            </a:pPr>
            <a:r>
              <a:t>Un cœur différenciant : données financières réelles + prédictions + what-if.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Le problème marché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2976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Les life-sims sont souvent trop légers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Boucles très mobiles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Peu de profondeur financière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Peu de conséquences long terme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42976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AD2"/>
                </a:solidFill>
                <a:latin typeface="Aptos"/>
              </a:rPr>
              <a:t>Les jeux de gestion sont souvent froids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Très systèmes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Peu d’incarnation personnelle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Peu de vie réelle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42976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BE73"/>
                </a:solidFill>
                <a:latin typeface="Aptos"/>
              </a:rPr>
              <a:t>La vie financière est rarement jouée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31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Crédit, dette, patrimoine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Stress, famille, carrière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Arbitrages sous contraintes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Notre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303520" cy="42976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EF4FA"/>
                </a:solidFill>
                <a:latin typeface="Aptos"/>
              </a:rPr>
              <a:t>Un simulateur de trajectoire de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Départ : jeune diplômé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Décisions mensuelles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Objectif : indépendance financière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Échec possible : faillite financière ou mentale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Fin : bilan par graphiques, pas score artificiel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4846320" cy="42976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AAD2"/>
                </a:solidFill>
                <a:latin typeface="Aptos"/>
              </a:rPr>
              <a:t>Ce qui rend le jeu mémorable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0312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Une interface bureau PC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Des notifications privées / publiques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Des chiffres qui évoluent avec le temps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Des choix personnels difficiles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Un vrai potentiel éducatif sans être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Boucle de gameplay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965960" cy="3474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783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E4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4FA"/>
                </a:solidFill>
                <a:latin typeface="Aptos"/>
              </a:rPr>
              <a:t>Lire les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315468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6C8"/>
                </a:solidFill>
                <a:latin typeface="Aptos"/>
              </a:rPr>
              <a:t>Bitcoin explose, crise immobilière, pandémie…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00200"/>
            <a:ext cx="1965960" cy="3474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59" y="1783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E4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4FA"/>
                </a:solidFill>
                <a:latin typeface="Aptos"/>
              </a:rPr>
              <a:t>Répartir son énergie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315468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6C8"/>
                </a:solidFill>
                <a:latin typeface="Aptos"/>
              </a:rPr>
              <a:t>Travail, famille, startup, marché, réseau, repos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600200"/>
            <a:ext cx="1965960" cy="3474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1783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E4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4FA"/>
                </a:solidFill>
                <a:latin typeface="Aptos"/>
              </a:rPr>
              <a:t>Agir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315468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6C8"/>
                </a:solidFill>
                <a:latin typeface="Aptos"/>
              </a:rPr>
              <a:t>Demander promotion, investir, emprunter, pitcher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5" y="1600200"/>
            <a:ext cx="1965960" cy="3474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3" y="1783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E4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4FA"/>
                </a:solidFill>
                <a:latin typeface="Aptos"/>
              </a:rPr>
              <a:t>Subir / profiter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315468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6C8"/>
                </a:solidFill>
                <a:latin typeface="Aptos"/>
              </a:rPr>
              <a:t>Événements privés, opportunités, accidents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600200"/>
            <a:ext cx="1965960" cy="3474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69296" y="1783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E4B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EF4FA"/>
                </a:solidFill>
                <a:latin typeface="Aptos"/>
              </a:rPr>
              <a:t>Observer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315468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6C8"/>
                </a:solidFill>
                <a:latin typeface="Aptos"/>
              </a:rPr>
              <a:t>Cash, dettes, santé mentale, famille, patrimoine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Les piliers de différenciation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607040" cy="6858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E4B"/>
                </a:solidFill>
                <a:latin typeface="Aptos"/>
              </a:rPr>
              <a:t>Données réelles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39903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F4FA"/>
                </a:solidFill>
                <a:latin typeface="Aptos"/>
              </a:rPr>
              <a:t>Actifs financiers, immobilier, inflation, livret A, tendances historiques.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10607040" cy="6858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AD2"/>
                </a:solidFill>
                <a:latin typeface="Aptos"/>
              </a:rPr>
              <a:t>IA /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5915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F4FA"/>
                </a:solidFill>
                <a:latin typeface="Aptos"/>
              </a:rPr>
              <a:t>Prédictions, scénarios, what-if et conseils post-partie.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607040" cy="6858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10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E4B"/>
                </a:solidFill>
                <a:latin typeface="Aptos"/>
              </a:rPr>
              <a:t>Vie personnelle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1927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F4FA"/>
                </a:solidFill>
                <a:latin typeface="Aptos"/>
              </a:rPr>
              <a:t>Famille, santé mentale, stress : pas seulement l’argent.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10607040" cy="6858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702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AD2"/>
                </a:solidFill>
                <a:latin typeface="Aptos"/>
              </a:rPr>
              <a:t>Interface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27939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F4FA"/>
                </a:solidFill>
                <a:latin typeface="Aptos"/>
              </a:rPr>
              <a:t>Bureau Windows, apps, notifications, pages gestion.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0607040" cy="6858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E4B"/>
                </a:solidFill>
                <a:latin typeface="Aptos"/>
              </a:rPr>
              <a:t>Long terme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23951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F4FA"/>
                </a:solidFill>
                <a:latin typeface="Aptos"/>
              </a:rPr>
              <a:t>22 ans → retraite : conséquences cumulatives.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État actuel du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01168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2704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Tour mensuel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20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boucle de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01168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52704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7 onglets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920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pages fonctionnelles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417320"/>
            <a:ext cx="201168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152704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2 flux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1920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privé + public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417320"/>
            <a:ext cx="201168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52704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Git + 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20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pipeline équipe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10698480" cy="24688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EF4FA"/>
                </a:solidFill>
                <a:latin typeface="Aptos"/>
              </a:rPr>
              <a:t>Prototype 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03320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5B6C8"/>
                </a:solidFill>
                <a:latin typeface="Aptos"/>
              </a:defRPr>
            </a:pPr>
            <a:r>
              <a:t>UI desktop jouable</a:t>
            </a:r>
          </a:p>
          <a:p>
            <a:pPr>
              <a:defRPr sz="1600">
                <a:solidFill>
                  <a:srgbClr val="A5B6C8"/>
                </a:solidFill>
                <a:latin typeface="Aptos"/>
              </a:defRPr>
            </a:pPr>
            <a:r>
              <a:t>variables principales : cash, dettes, stress, santé mentale, famille, réseau, XP</a:t>
            </a:r>
          </a:p>
          <a:p>
            <a:pPr>
              <a:defRPr sz="1600">
                <a:solidFill>
                  <a:srgbClr val="A5B6C8"/>
                </a:solidFill>
                <a:latin typeface="Aptos"/>
              </a:defRPr>
            </a:pPr>
            <a:r>
              <a:t>premières actions : salariat, investissement, banque, startup, vie perso, réseau</a:t>
            </a:r>
          </a:p>
          <a:p>
            <a:pPr>
              <a:defRPr sz="1600">
                <a:solidFill>
                  <a:srgbClr val="A5B6C8"/>
                </a:solidFill>
                <a:latin typeface="Aptos"/>
              </a:defRPr>
            </a:pPr>
            <a:r>
              <a:t>base extensible pour data/ML et équilibrage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Marché et opportunité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10896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35607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~188,9 Md$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marché mondial du jeu estimé en 2025 (Newzoo via Reuters)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10896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35607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5,7 Md€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marché français 2024 selon Le Monde / SELL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108960" cy="9601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435607"/>
            <a:ext cx="2962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E4B"/>
                </a:solidFill>
                <a:latin typeface="Aptos"/>
              </a:rPr>
              <a:t>PC +9%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1828800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5B6C8"/>
                </a:solidFill>
                <a:latin typeface="Aptos"/>
              </a:rPr>
              <a:t>segment PC France 2024, malgré un marché total en baisse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10241280" cy="192024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Lecture investisseur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39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EF4FA"/>
                </a:solidFill>
                <a:latin typeface="Aptos"/>
              </a:rPr>
              <a:t>Le projet vise une niche premium PC : joueurs de gestion, fans de simulation, jeunes adultes attirés par finance/carrière, et créateurs de contenu capables de rendre les choix viraux.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9204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6C8"/>
                </a:solidFill>
                <a:latin typeface="Aptos"/>
              </a:rPr>
              <a:t>Sources : Reuters/Newzoo 2025 ; Le Monde / SELL 2024. Détail dans l’annexe 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Public 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0" cy="1600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Le stratège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Aime optimiser, comparer, min-maxer. Football Manager, Paradox, RimWorld.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17320"/>
            <a:ext cx="5029200" cy="1600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184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AD2"/>
                </a:solidFill>
                <a:latin typeface="Aptos"/>
              </a:rPr>
              <a:t>Le curieux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1031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S’intéresse à l’investissement, au salaire, à l’indépendance financière.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029200" cy="1600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7588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Le joueur narratif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Veut des dilemmes, des conséquences, des histoires personnelles.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474720"/>
            <a:ext cx="5029200" cy="16002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67588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AD2"/>
                </a:solidFill>
                <a:latin typeface="Aptos"/>
              </a:rPr>
              <a:t>Le créateur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160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Cherche des runs absurdes, des notifications virales, des choix polémiques.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Modèle économique possible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EF4FA"/>
                </a:solidFill>
                <a:latin typeface="Aptos"/>
              </a:defRPr>
            </a:pPr>
            <a:r>
              <a:t>Option A — Premium PC : achat unique, accès complet au jeu.</a:t>
            </a:r>
          </a:p>
          <a:p>
            <a:pPr>
              <a:defRPr sz="1900">
                <a:solidFill>
                  <a:srgbClr val="EEF4FA"/>
                </a:solidFill>
                <a:latin typeface="Aptos"/>
              </a:defRPr>
            </a:pPr>
            <a:r>
              <a:t>Option B — Premium + DLC : villes, carrières, scénarios, crises, pays.</a:t>
            </a:r>
          </a:p>
          <a:p>
            <a:pPr>
              <a:defRPr sz="1900">
                <a:solidFill>
                  <a:srgbClr val="EEF4FA"/>
                </a:solidFill>
                <a:latin typeface="Aptos"/>
              </a:defRPr>
            </a:pPr>
            <a:r>
              <a:t>Option C — Éducatif B2B : version école/atelier finance, sans gamification excessive.</a:t>
            </a:r>
          </a:p>
          <a:p>
            <a:pPr>
              <a:defRPr sz="1900">
                <a:solidFill>
                  <a:srgbClr val="EEF4FA"/>
                </a:solidFill>
                <a:latin typeface="Aptos"/>
              </a:defRPr>
            </a:pPr>
            <a:r>
              <a:t>Option D — Démo gratuite + accès complet : acquisition communautaire.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25880"/>
            <a:ext cx="4480560" cy="35661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BE4B"/>
                </a:solidFill>
                <a:latin typeface="Aptos"/>
              </a:rPr>
              <a:t>Positionnement recommandé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3317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EF4FA"/>
                </a:solidFill>
                <a:latin typeface="Aptos"/>
              </a:rPr>
              <a:t>Un jeu premium PC, vendu comme une expérience de gestion narrative sérieuse, extensible par scénarios et données.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3977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6C8"/>
                </a:solidFill>
                <a:latin typeface="Aptos"/>
              </a:rPr>
              <a:t>Éviter au départ : microtransactions, pay-to-win, économie intrusive.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Roadmap produit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4475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E4B"/>
                </a:solidFill>
                <a:latin typeface="Aptos"/>
              </a:rPr>
              <a:t>M0-M1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280160"/>
            <a:ext cx="9326880" cy="5943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408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Prototype vertical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19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6C8"/>
                </a:solidFill>
                <a:latin typeface="Aptos"/>
              </a:rPr>
              <a:t>UI, tours, variables, pages, sauvegarde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E4B"/>
                </a:solidFill>
                <a:latin typeface="Aptos"/>
              </a:rPr>
              <a:t>M2-M3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194560"/>
            <a:ext cx="9326880" cy="5943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3225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Données &amp; marchés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317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6C8"/>
                </a:solidFill>
                <a:latin typeface="Aptos"/>
              </a:rPr>
              <a:t>Actifs, immobilier, inflation, événements corrélés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E4B"/>
                </a:solidFill>
                <a:latin typeface="Aptos"/>
              </a:rPr>
              <a:t>M4-M5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108960"/>
            <a:ext cx="9326880" cy="5943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2369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Gameplay profond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6C8"/>
                </a:solidFill>
                <a:latin typeface="Aptos"/>
              </a:rPr>
              <a:t>startup, banque, carrière, vie perso, équilibre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E4B"/>
                </a:solidFill>
                <a:latin typeface="Aptos"/>
              </a:rPr>
              <a:t>M6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023360"/>
            <a:ext cx="9326880" cy="5943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1513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Démo publique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605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6C8"/>
                </a:solidFill>
                <a:latin typeface="Aptos"/>
              </a:rPr>
              <a:t>trailer, playtest, Steam page / 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E4B"/>
                </a:solidFill>
                <a:latin typeface="Aptos"/>
              </a:rPr>
              <a:t>M7+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937760"/>
            <a:ext cx="9326880" cy="5943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0657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Alpha investisseur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0749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6C8"/>
                </a:solidFill>
                <a:latin typeface="Aptos"/>
              </a:rPr>
              <a:t>cohortes test, métriques, 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Stratégie de lancement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20624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BE4B"/>
                </a:solidFill>
                <a:latin typeface="Aptos"/>
              </a:rPr>
              <a:t>Pré-lancement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Steam/itch page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devlogs TikTok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clips de notifications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sondages de choix de vie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20624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AAD2"/>
                </a:solidFill>
                <a:latin typeface="Aptos"/>
              </a:rPr>
              <a:t>Démo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Run 5 ans jouable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bilan final partageable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défis communautaires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playtests ciblés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383280" cy="420624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BE73"/>
                </a:solidFill>
                <a:latin typeface="Aptos"/>
              </a:rPr>
              <a:t>Communauté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classements de stratégies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mèmes de faillite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choix polémiques</a:t>
            </a:r>
          </a:p>
          <a:p>
            <a:pPr>
              <a:defRPr sz="1600">
                <a:solidFill>
                  <a:srgbClr val="EEF4FA"/>
                </a:solidFill>
                <a:latin typeface="Aptos"/>
              </a:defRPr>
            </a:pPr>
            <a:r>
              <a:t>runs “0 famille / full money”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Équipe et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33832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BE4B"/>
                </a:solidFill>
                <a:latin typeface="Aptos"/>
              </a:rPr>
              <a:t>Équipe de 5 — structure conseillée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Lead gameplay / systèmes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Unity UI &amp; intégration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Data / scraping / ML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Game design / équilibrage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Marketing / business /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AAD2"/>
                </a:solidFill>
                <a:latin typeface="Aptos"/>
              </a:rPr>
              <a:t>Besoin à court terme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stabiliser la version jouable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sécuriser la pipeline Git/Unity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préparer une démo présentable</a:t>
            </a:r>
          </a:p>
          <a:p>
            <a:pPr>
              <a:defRPr sz="1700">
                <a:solidFill>
                  <a:srgbClr val="A5B6C8"/>
                </a:solidFill>
                <a:latin typeface="Aptos"/>
              </a:defRPr>
            </a:pPr>
            <a:r>
              <a:t>mesurer la compréhension des joueurs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Ce que nous cherchons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937760" cy="15087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Accompagnement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Mentorat produit, game design, publishing indie, structuration.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17320"/>
            <a:ext cx="4937760" cy="15087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AD2"/>
                </a:solidFill>
                <a:latin typeface="Aptos"/>
              </a:rPr>
              <a:t>Financement léger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103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Assets visuels, sound design, playtests, marketing de démo.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4937760" cy="15087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BE4B"/>
                </a:solidFill>
                <a:latin typeface="Aptos"/>
              </a:rPr>
              <a:t>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Studios, incubateurs, investisseurs early, créateurs contenu.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429000"/>
            <a:ext cx="4937760" cy="150876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657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AD2"/>
                </a:solidFill>
                <a:latin typeface="Aptos"/>
              </a:rPr>
              <a:t>Validation marché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1148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Playtests, retours utilisateurs, indicateurs de rétention.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EF4FA"/>
                </a:solidFill>
                <a:latin typeface="Aptos"/>
              </a:rPr>
              <a:t>Le jeu de gestion de vie que tout jeune adulte comprend instantanément.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231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BE4B"/>
                </a:solidFill>
                <a:latin typeface="Aptos"/>
              </a:rPr>
              <a:t>Pas une leçon de finance. Une machine à dilemmes.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3291840"/>
            <a:ext cx="4389120" cy="2560320"/>
          </a:xfrm>
          <a:prstGeom prst="roundRect">
            <a:avLst/>
          </a:prstGeom>
          <a:solidFill>
            <a:srgbClr val="3A8BE6"/>
          </a:solidFill>
          <a:ln>
            <a:solidFill>
              <a:srgbClr val="3A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86200" y="5440680"/>
            <a:ext cx="4389120" cy="411480"/>
          </a:xfrm>
          <a:prstGeom prst="rect">
            <a:avLst/>
          </a:prstGeom>
          <a:solidFill>
            <a:srgbClr val="1450B9"/>
          </a:solidFill>
          <a:ln>
            <a:solidFill>
              <a:srgbClr val="145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95928" y="5513832"/>
            <a:ext cx="822960" cy="265176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87368" y="555040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Démarrer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4879238"/>
            <a:ext cx="2852928" cy="896111"/>
          </a:xfrm>
          <a:prstGeom prst="roundRect">
            <a:avLst/>
          </a:prstGeom>
          <a:solidFill>
            <a:srgbClr val="78CD50"/>
          </a:solidFill>
          <a:ln>
            <a:solidFill>
              <a:srgbClr val="78C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41848" y="5032857"/>
            <a:ext cx="2633472" cy="716889"/>
          </a:xfrm>
          <a:prstGeom prst="roundRect">
            <a:avLst/>
          </a:prstGeom>
          <a:solidFill>
            <a:srgbClr val="3A9137"/>
          </a:solidFill>
          <a:ln>
            <a:solidFill>
              <a:srgbClr val="3A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3611880"/>
            <a:ext cx="411480" cy="411480"/>
          </a:xfrm>
          <a:prstGeom prst="roundRect">
            <a:avLst/>
          </a:prstGeom>
          <a:solidFill>
            <a:srgbClr val="F5BE4B"/>
          </a:solidFill>
          <a:ln>
            <a:solidFill>
              <a:srgbClr val="F5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37124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611880"/>
            <a:ext cx="411480" cy="411480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37124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526280"/>
            <a:ext cx="411480" cy="411480"/>
          </a:xfrm>
          <a:prstGeom prst="roundRect">
            <a:avLst/>
          </a:prstGeom>
          <a:solidFill>
            <a:srgbClr val="916EDC"/>
          </a:solidFill>
          <a:ln>
            <a:solidFill>
              <a:srgbClr val="91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46268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526280"/>
            <a:ext cx="411480" cy="411480"/>
          </a:xfrm>
          <a:prstGeom prst="roundRect">
            <a:avLst/>
          </a:prstGeom>
          <a:solidFill>
            <a:srgbClr val="E1504B"/>
          </a:solidFill>
          <a:ln>
            <a:solidFill>
              <a:srgbClr val="E1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46268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989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EF4FA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Annexe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Reuters / Newzoo : estimation du marché mondial du jeu vidéo 2025 et croissance.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Le Monde / SELL : marché français 2024, baisse globale mais croissance PC et mobile.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Analyse interne projet : prototype Unity, données financières, scraping, ML, game design.</a:t>
            </a:r>
          </a:p>
          <a:p>
            <a:pPr>
              <a:defRPr sz="1700">
                <a:solidFill>
                  <a:srgbClr val="EEF4FA"/>
                </a:solidFill>
                <a:latin typeface="Aptos"/>
              </a:defRPr>
            </a:pPr>
            <a:r>
              <a:t>Ces sources servent d’ordre de grandeur marché ; les projections commerciales du projet restent à valider par playtests.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
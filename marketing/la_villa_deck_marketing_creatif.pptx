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EF4FA"/>
                </a:solidFill>
                <a:latin typeface="Aptos"/>
              </a:rPr>
              <a:t>Et si ta vie était un jeu de gestion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BE4B"/>
                </a:solidFill>
                <a:latin typeface="Aptos"/>
              </a:rPr>
              <a:t>La Villa ou la Banqueroute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2834640"/>
            <a:ext cx="4389120" cy="2926080"/>
          </a:xfrm>
          <a:prstGeom prst="roundRect">
            <a:avLst/>
          </a:prstGeom>
          <a:solidFill>
            <a:srgbClr val="3A8BE6"/>
          </a:solidFill>
          <a:ln>
            <a:solidFill>
              <a:srgbClr val="3A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86200" y="5349240"/>
            <a:ext cx="4389120" cy="411480"/>
          </a:xfrm>
          <a:prstGeom prst="rect">
            <a:avLst/>
          </a:prstGeom>
          <a:solidFill>
            <a:srgbClr val="1450B9"/>
          </a:solidFill>
          <a:ln>
            <a:solidFill>
              <a:srgbClr val="145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95928" y="5422392"/>
            <a:ext cx="822960" cy="265176"/>
          </a:xfrm>
          <a:prstGeom prst="roundRect">
            <a:avLst/>
          </a:prstGeom>
          <a:solidFill>
            <a:srgbClr val="4EBE73"/>
          </a:solidFill>
          <a:ln>
            <a:solidFill>
              <a:srgbClr val="4E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87368" y="54589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Démarrer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4648809"/>
            <a:ext cx="2852928" cy="1024127"/>
          </a:xfrm>
          <a:prstGeom prst="roundRect">
            <a:avLst/>
          </a:prstGeom>
          <a:solidFill>
            <a:srgbClr val="78CD50"/>
          </a:solidFill>
          <a:ln>
            <a:solidFill>
              <a:srgbClr val="78C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41848" y="4824374"/>
            <a:ext cx="2633472" cy="819302"/>
          </a:xfrm>
          <a:prstGeom prst="roundRect">
            <a:avLst/>
          </a:prstGeom>
          <a:solidFill>
            <a:srgbClr val="3A9137"/>
          </a:solidFill>
          <a:ln>
            <a:solidFill>
              <a:srgbClr val="3A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3154680"/>
            <a:ext cx="411480" cy="411480"/>
          </a:xfrm>
          <a:prstGeom prst="roundRect">
            <a:avLst/>
          </a:prstGeom>
          <a:solidFill>
            <a:srgbClr val="F5BE4B"/>
          </a:solidFill>
          <a:ln>
            <a:solidFill>
              <a:srgbClr val="F5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32552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JOB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154680"/>
            <a:ext cx="411480" cy="411480"/>
          </a:xfrm>
          <a:prstGeom prst="roundRect">
            <a:avLst/>
          </a:prstGeom>
          <a:solidFill>
            <a:srgbClr val="4EBE73"/>
          </a:solidFill>
          <a:ln>
            <a:solidFill>
              <a:srgbClr val="4EB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32552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069080"/>
            <a:ext cx="411480" cy="411480"/>
          </a:xfrm>
          <a:prstGeom prst="roundRect">
            <a:avLst/>
          </a:prstGeom>
          <a:solidFill>
            <a:srgbClr val="916EDC"/>
          </a:solidFill>
          <a:ln>
            <a:solidFill>
              <a:srgbClr val="91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8" y="41696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BANK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069080"/>
            <a:ext cx="411480" cy="411480"/>
          </a:xfrm>
          <a:prstGeom prst="roundRect">
            <a:avLst/>
          </a:prstGeom>
          <a:solidFill>
            <a:srgbClr val="E1504B"/>
          </a:solidFill>
          <a:ln>
            <a:solidFill>
              <a:srgbClr val="E15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4169664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EEF4FA"/>
                </a:solidFill>
                <a:latin typeface="Aptos"/>
              </a:rPr>
              <a:t>NEWS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Positionnement marketing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6C8"/>
                </a:solidFill>
                <a:latin typeface="Aptos"/>
              </a:rPr>
              <a:t>Un jeu qui vend du choix, du stress et de la projection personnelle.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EF4FA"/>
                </a:solidFill>
                <a:latin typeface="Aptos"/>
              </a:defRPr>
            </a:pPr>
            <a:r>
              <a:t>Promesse : “Construis ta trajectoire. Assume tes arbitrages.”</a:t>
            </a:r>
          </a:p>
          <a:p>
            <a:pPr>
              <a:defRPr sz="2200">
                <a:solidFill>
                  <a:srgbClr val="EEF4FA"/>
                </a:solidFill>
                <a:latin typeface="Aptos"/>
              </a:defRPr>
            </a:pPr>
            <a:r>
              <a:t>Ton : sérieux, mordant, parfois drôle, jamais moralisateur.</a:t>
            </a:r>
          </a:p>
          <a:p>
            <a:pPr>
              <a:defRPr sz="2200">
                <a:solidFill>
                  <a:srgbClr val="EEF4FA"/>
                </a:solidFill>
                <a:latin typeface="Aptos"/>
              </a:defRPr>
            </a:pPr>
            <a:r>
              <a:t>Univers : bureau PC, notifications, news, fichiers, applications.</a:t>
            </a:r>
          </a:p>
          <a:p>
            <a:pPr>
              <a:defRPr sz="2200">
                <a:solidFill>
                  <a:srgbClr val="EEF4FA"/>
                </a:solidFill>
                <a:latin typeface="Aptos"/>
              </a:defRPr>
            </a:pPr>
            <a:r>
              <a:t>Moment social : comparer les runs et les bilans de vie.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La phrase d’accroche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10972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BE4B"/>
                </a:solidFill>
                <a:latin typeface="Aptos"/>
              </a:rPr>
              <a:t>“Tu voulais devenir libre financièrement. Tu as oublié de vivre.”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EF4FA"/>
                </a:solidFill>
                <a:latin typeface="Aptos"/>
              </a:defRPr>
            </a:pPr>
            <a:r>
              <a:t>Variante trailer : “Chaque mois, tu gagnes de l’argent. Mais tu dépenses ta vie.”</a:t>
            </a:r>
          </a:p>
          <a:p>
            <a:pPr>
              <a:defRPr sz="2000">
                <a:solidFill>
                  <a:srgbClr val="EEF4FA"/>
                </a:solidFill>
                <a:latin typeface="Aptos"/>
              </a:defRPr>
            </a:pPr>
            <a:r>
              <a:t>Variante TikTok : “J’ai sacrifié ma famille pour acheter un T2 à Bordeaux.”</a:t>
            </a:r>
          </a:p>
          <a:p>
            <a:pPr>
              <a:defRPr sz="2000">
                <a:solidFill>
                  <a:srgbClr val="EEF4FA"/>
                </a:solidFill>
                <a:latin typeface="Aptos"/>
              </a:defRPr>
            </a:pPr>
            <a:r>
              <a:t>Variante Steam : “Un simulateur de vie financière où chaque décision laisse une trace.”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Les campagnes originales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4937760" cy="16459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BE4B"/>
                </a:solidFill>
                <a:latin typeface="Aptos"/>
              </a:rPr>
              <a:t>Fais tes choix, assume ta vie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Des clips courts où deux joueurs partent du même profil et finissent opposés.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4937760" cy="16459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AAD2"/>
                </a:solidFill>
                <a:latin typeface="Aptos"/>
              </a:rPr>
              <a:t>Notifications de l’enfer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84248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Fausse notification : “Votre mère est malade. Vous êtes en réunion.”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4937760" cy="16459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BE4B"/>
                </a:solidFill>
                <a:latin typeface="Aptos"/>
              </a:rPr>
              <a:t>Bilan de vie partageable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33088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Image finale générée : patrimoine, dettes, famille, santé mentale.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83280"/>
            <a:ext cx="4937760" cy="16459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611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AAD2"/>
                </a:solidFill>
                <a:latin typeface="Aptos"/>
              </a:rPr>
              <a:t>Le challenge +120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133088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EF4FA"/>
                </a:solidFill>
                <a:latin typeface="Aptos"/>
              </a:rPr>
              <a:t>Tenir 10 ans sans faillite mentale ni dette toxique.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Idées de contenus viraux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EF4FA"/>
                </a:solidFill>
                <a:latin typeface="Aptos"/>
              </a:defRPr>
            </a:pPr>
            <a:r>
              <a:t>“J’ai refusé une promotion pour sauver mon couple.”</a:t>
            </a:r>
          </a:p>
          <a:p>
            <a:pPr>
              <a:defRPr sz="2400">
                <a:solidFill>
                  <a:srgbClr val="EEF4FA"/>
                </a:solidFill>
                <a:latin typeface="Aptos"/>
              </a:defRPr>
            </a:pPr>
            <a:r>
              <a:t>“J’ai acheté du Bitcoin au sommet et j’ai ruiné 15 ans de vie.”</a:t>
            </a:r>
          </a:p>
          <a:p>
            <a:pPr>
              <a:defRPr sz="2400">
                <a:solidFill>
                  <a:srgbClr val="EEF4FA"/>
                </a:solidFill>
                <a:latin typeface="Aptos"/>
              </a:defRPr>
            </a:pPr>
            <a:r>
              <a:t>“Full startup : millionnaire à 38 ans, seul à 39.”</a:t>
            </a:r>
          </a:p>
          <a:p>
            <a:pPr>
              <a:defRPr sz="2400">
                <a:solidFill>
                  <a:srgbClr val="EEF4FA"/>
                </a:solidFill>
                <a:latin typeface="Aptos"/>
              </a:defRPr>
            </a:pPr>
            <a:r>
              <a:t>“La stratégie la plus rentable est-elle la plus triste ?”</a:t>
            </a:r>
          </a:p>
          <a:p>
            <a:pPr>
              <a:defRPr sz="2400">
                <a:solidFill>
                  <a:srgbClr val="EEF4FA"/>
                </a:solidFill>
                <a:latin typeface="Aptos"/>
              </a:defRPr>
            </a:pPr>
            <a:r>
              <a:t>“Mon banquier m’a refusé un crédit car j’avais trop investi dans ma boîte.”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Trailer — concept 45 secondes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0–5s : bureau Windows, notification “Nouveau mois”.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5–15s : slider énergie, choix travail/famille/startup.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15–25s : news publique “Crise immobilière”, événement privé “Naissance d’un enfant”.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25–35s : dettes, stress, opportunité startup, promotion refusée.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35–45s : bilan : patrimoine haut, santé mentale basse. Noir. Logo.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Communauté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15600" cy="32004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9692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Partager son bilan final comme une carte de personnage.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Créer des “builds” : full carrière, full startup, famille-first, rentier prudent.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Vote communautaire : quel événement réel intégrer ensuite ?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Runs streamers : 500 mois en live, public décide de l’énergie.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Roadmap marketing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Phase 1 — Teasing : clips de notifications + bureau + choix impossibles.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Phase 2 — Devlog : montrer les systèmes, pas seulement le visuel.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Phase 3 — Démo : 5 années jouables, bilan partageable.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Phase 4 — Playtest : récolter les stratégies et les fails.</a:t>
            </a:r>
          </a:p>
          <a:p>
            <a:pPr>
              <a:defRPr sz="2100">
                <a:solidFill>
                  <a:srgbClr val="EEF4FA"/>
                </a:solidFill>
                <a:latin typeface="Aptos"/>
              </a:defRPr>
            </a:pPr>
            <a:r>
              <a:t>Phase 5 — Lancement : trailer + créateurs finance/gaming + challenge communautaire.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EF4FA"/>
                </a:solidFill>
                <a:latin typeface="Aptos"/>
              </a:rPr>
              <a:t>Message final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45720"/>
          </a:xfrm>
          <a:prstGeom prst="rect">
            <a:avLst/>
          </a:prstGeom>
          <a:solidFill>
            <a:srgbClr val="00AAD2"/>
          </a:solidFill>
          <a:ln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EF4FA"/>
                </a:solidFill>
                <a:latin typeface="Aptos"/>
              </a:rPr>
              <a:t>Le marketing ne doit pas vendre “un jeu de finance”.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BE4B"/>
                </a:solidFill>
                <a:latin typeface="Aptos"/>
              </a:rPr>
              <a:t>Il doit vendre une question : “Qu’est-ce que tu sacrifies pour réussir 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5B6C8"/>
                </a:solidFill>
                <a:latin typeface="Aptos"/>
              </a:rPr>
              <a:t>La Villa ou la Banqueroute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37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5B6C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